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71" r:id="rId4"/>
    <p:sldId id="268" r:id="rId5"/>
    <p:sldId id="265" r:id="rId6"/>
    <p:sldId id="266" r:id="rId7"/>
    <p:sldId id="264" r:id="rId8"/>
    <p:sldId id="270" r:id="rId9"/>
  </p:sldIdLst>
  <p:sldSz cx="17610138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3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82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9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5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5" y="6629225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82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82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90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7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2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1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1" y="527404"/>
            <a:ext cx="15188744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7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2"/>
            <a:ext cx="744991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7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2"/>
            <a:ext cx="7486602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59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7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61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660400"/>
            <a:ext cx="5679727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3" y="1426281"/>
            <a:ext cx="8915132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2" y="2971800"/>
            <a:ext cx="5679727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80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660400"/>
            <a:ext cx="5679727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3" y="1426281"/>
            <a:ext cx="8915132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2" y="2971800"/>
            <a:ext cx="5679727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55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950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3"/>
            <a:ext cx="379718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7" y="527403"/>
            <a:ext cx="11171431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70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7" y="527404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7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7" y="9181395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B1A2D-9265-449A-9D1D-A32F50590CF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58" y="9181395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0" y="9181395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B2EF4-E0D6-469D-9F4F-33DE11A48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8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geeksforgeeks.org/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ibm.com/?utm_source=chatgpt.com" TargetMode="External"/><Relationship Id="rId5" Type="http://schemas.openxmlformats.org/officeDocument/2006/relationships/hyperlink" Target="https://learn.microsoft.com/?utm_source=chatgpt.com" TargetMode="External"/><Relationship Id="rId4" Type="http://schemas.openxmlformats.org/officeDocument/2006/relationships/hyperlink" Target="https://docs.oracle.com/en/java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FDAE184C-E1A4-C5F6-32F4-532D81E26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5787" y="162181"/>
            <a:ext cx="2133744" cy="21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42F25C23-8F23-9026-4D6C-A4B2D98F3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576"/>
            <a:ext cx="2133745" cy="214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Institute of Medical and ...">
            <a:extLst>
              <a:ext uri="{FF2B5EF4-FFF2-40B4-BE49-F238E27FC236}">
                <a16:creationId xmlns:a16="http://schemas.microsoft.com/office/drawing/2014/main" id="{A9AF1E79-E7BF-EBAC-239E-102878AA1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528" y="503267"/>
            <a:ext cx="10826495" cy="1731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A395DB-9879-1E75-197F-D97450601ED9}"/>
              </a:ext>
            </a:extLst>
          </p:cNvPr>
          <p:cNvSpPr txBox="1"/>
          <p:nvPr/>
        </p:nvSpPr>
        <p:spPr>
          <a:xfrm>
            <a:off x="2803788" y="3055155"/>
            <a:ext cx="124059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CSA11 - </a:t>
            </a:r>
            <a:r>
              <a:rPr lang="en-IN" sz="4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 ORIENTED ANALYSIS AND DESIGN</a:t>
            </a:r>
            <a:endParaRPr lang="en-IN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51CD5-EAEB-E8F9-B717-3C3AA048CD89}"/>
              </a:ext>
            </a:extLst>
          </p:cNvPr>
          <p:cNvSpPr txBox="1"/>
          <p:nvPr/>
        </p:nvSpPr>
        <p:spPr>
          <a:xfrm>
            <a:off x="11497426" y="7400710"/>
            <a:ext cx="7424557" cy="165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N.Nesarajan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(192511386)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E2A389-5E45-7B86-C589-30DF5602CC3D}"/>
              </a:ext>
            </a:extLst>
          </p:cNvPr>
          <p:cNvSpPr txBox="1"/>
          <p:nvPr/>
        </p:nvSpPr>
        <p:spPr>
          <a:xfrm>
            <a:off x="3924667" y="5227932"/>
            <a:ext cx="92749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SDLC Phases in Object-Oriented Development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4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24EBCD35-5064-0E8B-E2E2-ECD37497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3307" y="162181"/>
            <a:ext cx="1736224" cy="173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FDB5C42C-2395-8D95-74F0-58210AC23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7" y="0"/>
            <a:ext cx="1729446" cy="173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78C10F-99F1-7205-73AA-0B6A02CAC740}"/>
              </a:ext>
            </a:extLst>
          </p:cNvPr>
          <p:cNvSpPr txBox="1"/>
          <p:nvPr/>
        </p:nvSpPr>
        <p:spPr>
          <a:xfrm>
            <a:off x="6230112" y="614794"/>
            <a:ext cx="8802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474AA-7AEF-94B3-69AF-5B830CE53F9E}"/>
              </a:ext>
            </a:extLst>
          </p:cNvPr>
          <p:cNvSpPr txBox="1"/>
          <p:nvPr/>
        </p:nvSpPr>
        <p:spPr>
          <a:xfrm>
            <a:off x="1487423" y="2152549"/>
            <a:ext cx="14215883" cy="6651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Life Cycle (SDLC) is a structured process used to develop high-quality software.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developers plan, design, build, test, and maintain software efficiently.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Development (OOD) is a software development approach based on objects and classes.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combined with object-oriented principles improves software quality, flexibility, and maintainability.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phases are Requirement Analysis, Design, Implementation, Testing, Deployment, and Maintenance.</a:t>
            </a:r>
          </a:p>
        </p:txBody>
      </p:sp>
    </p:spTree>
    <p:extLst>
      <p:ext uri="{BB962C8B-B14F-4D97-AF65-F5344CB8AC3E}">
        <p14:creationId xmlns:p14="http://schemas.microsoft.com/office/powerpoint/2010/main" val="27770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A93C-17CC-2678-7D54-BF35AF70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63F00F88-37FD-FF2F-899C-AAD686F5E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903" y="162181"/>
            <a:ext cx="1443627" cy="144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972D68FA-9AC6-A9CA-A19D-18583E24B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7" y="0"/>
            <a:ext cx="1443627" cy="144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9B0906-BF7E-54A1-E3AA-E7B564C93D62}"/>
              </a:ext>
            </a:extLst>
          </p:cNvPr>
          <p:cNvSpPr txBox="1"/>
          <p:nvPr/>
        </p:nvSpPr>
        <p:spPr>
          <a:xfrm>
            <a:off x="5232890" y="478349"/>
            <a:ext cx="13201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0530D-FA7D-0910-5B1C-89BBEBA01971}"/>
              </a:ext>
            </a:extLst>
          </p:cNvPr>
          <p:cNvSpPr txBox="1"/>
          <p:nvPr/>
        </p:nvSpPr>
        <p:spPr>
          <a:xfrm>
            <a:off x="1311520" y="2876703"/>
            <a:ext cx="14684383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hospital uses a manual system to manage patient records, appointments, and billing.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number of patients increases, records are misplaced, appointment schedules overlap, and billing errors occur.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reduce efficiency and affect patient care.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SDLC and Object-Oriented Development helps build a reliable hospital management system with well-organized modules for patients, doctors, appointments, and billing.</a:t>
            </a:r>
          </a:p>
        </p:txBody>
      </p:sp>
    </p:spTree>
    <p:extLst>
      <p:ext uri="{BB962C8B-B14F-4D97-AF65-F5344CB8AC3E}">
        <p14:creationId xmlns:p14="http://schemas.microsoft.com/office/powerpoint/2010/main" val="44014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AC0B-7E21-830B-C926-08A3A382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491DF7E6-8FD1-532A-E4FE-D31A58559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903" y="162181"/>
            <a:ext cx="1443627" cy="144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E74D6657-47B6-82D6-8274-F49B06CD9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7" y="0"/>
            <a:ext cx="1443627" cy="144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44BBFC-3D96-1C7A-A03B-C561C2650F9A}"/>
              </a:ext>
            </a:extLst>
          </p:cNvPr>
          <p:cNvSpPr txBox="1"/>
          <p:nvPr/>
        </p:nvSpPr>
        <p:spPr>
          <a:xfrm>
            <a:off x="6343650" y="1033786"/>
            <a:ext cx="8801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904F2-7A7D-7D31-9A25-BAC715C87416}"/>
              </a:ext>
            </a:extLst>
          </p:cNvPr>
          <p:cNvSpPr txBox="1"/>
          <p:nvPr/>
        </p:nvSpPr>
        <p:spPr>
          <a:xfrm>
            <a:off x="1614234" y="3519785"/>
            <a:ext cx="8801100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planning.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design takes more time.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for beginners.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Larger memory usage.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developers are needed.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large projects can be time-consuming.</a:t>
            </a:r>
          </a:p>
        </p:txBody>
      </p:sp>
    </p:spTree>
    <p:extLst>
      <p:ext uri="{BB962C8B-B14F-4D97-AF65-F5344CB8AC3E}">
        <p14:creationId xmlns:p14="http://schemas.microsoft.com/office/powerpoint/2010/main" val="368395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E142-24C3-DA70-4AF3-6D7BBFA2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74B565BA-E56D-D8A0-4AF0-342F0419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903" y="162181"/>
            <a:ext cx="1443627" cy="144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569B517E-560F-D674-7D2D-74B41796D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7" y="0"/>
            <a:ext cx="1443627" cy="144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56864A-CB36-9B18-5CD2-CFB61D3470E7}"/>
              </a:ext>
            </a:extLst>
          </p:cNvPr>
          <p:cNvSpPr txBox="1"/>
          <p:nvPr/>
        </p:nvSpPr>
        <p:spPr>
          <a:xfrm>
            <a:off x="6583680" y="309143"/>
            <a:ext cx="8802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539B17-19BC-43DB-B9DC-F201D7E1D8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2"/>
          <a:stretch>
            <a:fillRect/>
          </a:stretch>
        </p:blipFill>
        <p:spPr>
          <a:xfrm>
            <a:off x="1856851" y="1705586"/>
            <a:ext cx="13896435" cy="789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6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43BB-52AA-E4F4-BD1C-879B6350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5BA3FAA9-CCB0-E41E-2D01-ED90C59A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903" y="162181"/>
            <a:ext cx="1443627" cy="144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01D16434-DD4B-D6A8-44E7-AB55D0C9C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7" y="0"/>
            <a:ext cx="1443627" cy="144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7AD961-67D6-1796-2992-6FE75732B98D}"/>
              </a:ext>
            </a:extLst>
          </p:cNvPr>
          <p:cNvSpPr txBox="1"/>
          <p:nvPr/>
        </p:nvSpPr>
        <p:spPr>
          <a:xfrm>
            <a:off x="4457700" y="724642"/>
            <a:ext cx="10382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4FFFBD-EFD5-93A9-6554-F5EC822426E6}"/>
              </a:ext>
            </a:extLst>
          </p:cNvPr>
          <p:cNvSpPr txBox="1"/>
          <p:nvPr/>
        </p:nvSpPr>
        <p:spPr>
          <a:xfrm>
            <a:off x="1352550" y="3074938"/>
            <a:ext cx="8801100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Management Systems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Applications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Systems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&amp; College Management Systems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Reservation Systems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Software 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 </a:t>
            </a:r>
          </a:p>
        </p:txBody>
      </p:sp>
    </p:spTree>
    <p:extLst>
      <p:ext uri="{BB962C8B-B14F-4D97-AF65-F5344CB8AC3E}">
        <p14:creationId xmlns:p14="http://schemas.microsoft.com/office/powerpoint/2010/main" val="71491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56E59-5CF5-81F3-B0AF-93D27BEA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64F78066-52A9-AEDC-5CF1-A3397B83F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3307" y="162181"/>
            <a:ext cx="1736224" cy="173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105623E1-BEA3-906C-C703-464F2CC74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7" y="0"/>
            <a:ext cx="1729446" cy="173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D6C51F-50F7-7E8B-39D0-0DC33316DF30}"/>
              </a:ext>
            </a:extLst>
          </p:cNvPr>
          <p:cNvSpPr txBox="1"/>
          <p:nvPr/>
        </p:nvSpPr>
        <p:spPr>
          <a:xfrm>
            <a:off x="6303264" y="1067408"/>
            <a:ext cx="8802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988BB-A7AE-6738-E5DA-7C4C79F0BEF6}"/>
              </a:ext>
            </a:extLst>
          </p:cNvPr>
          <p:cNvSpPr txBox="1"/>
          <p:nvPr/>
        </p:nvSpPr>
        <p:spPr>
          <a:xfrm>
            <a:off x="1255776" y="2925435"/>
            <a:ext cx="13740384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provides a systematic approach to software development.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Development improves software design by using classes and objects.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SDLC phase contributes to building reliable and efficient software.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planning, design, coding, testing, and maintenance reduce development risks.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SDLC with object-oriented principles results in high-quality, scalable, and maintainable software systems. </a:t>
            </a:r>
          </a:p>
        </p:txBody>
      </p:sp>
    </p:spTree>
    <p:extLst>
      <p:ext uri="{BB962C8B-B14F-4D97-AF65-F5344CB8AC3E}">
        <p14:creationId xmlns:p14="http://schemas.microsoft.com/office/powerpoint/2010/main" val="219726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756FF-4A47-7390-3D73-3C321D55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38FBD66A-F450-433C-04B0-C10D7012B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903" y="162181"/>
            <a:ext cx="1443627" cy="144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109DF991-0B3D-819D-23E1-14B206EF6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7" y="0"/>
            <a:ext cx="1443627" cy="144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76F582-3944-9F84-E548-2C9EE3A7C3E6}"/>
              </a:ext>
            </a:extLst>
          </p:cNvPr>
          <p:cNvSpPr txBox="1"/>
          <p:nvPr/>
        </p:nvSpPr>
        <p:spPr>
          <a:xfrm>
            <a:off x="6248400" y="468495"/>
            <a:ext cx="8801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E0658-CE02-FB09-D7CB-561E00E87B90}"/>
              </a:ext>
            </a:extLst>
          </p:cNvPr>
          <p:cNvSpPr txBox="1"/>
          <p:nvPr/>
        </p:nvSpPr>
        <p:spPr>
          <a:xfrm>
            <a:off x="892420" y="1958535"/>
            <a:ext cx="1602105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Pressman, R. S., &amp; Maxim, B. R. (2020).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Engineering: A Practitioner's Approach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(9th ed.). McGraw-Hill.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Sommerville, I. (2016).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(10th ed.). Pearson Education.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Booch, G., Rumbaugh, J., &amp; Jacobson, I. (2005).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Unified </a:t>
            </a:r>
            <a:r>
              <a:rPr lang="en-IN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User Guide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ed.). Addison-Wesley.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Larman, C. (2004).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UML and Patterns: An Introduction to Object-Oriented Analysis and Design and Iterative Development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ed.). Prentice Hall.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Martin, R. C. (2008).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Code: A Handbook of Agile Software Craftsmanship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Prentice Hall.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Gamma, E., Helm, R., Johnson, R., &amp;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Vlissides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(1994).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Patterns: Elements of Reusable Object-Oriented Software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Addison-Wesley.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Oracle Java Documentation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Microsoft Learn – Software Development Documentation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IBM Developer Documentation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GeeksforGeeks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– SDLC and Object-Oriented Programming Tutorials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527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</TotalTime>
  <Words>472</Words>
  <Application>Microsoft Office PowerPoint</Application>
  <PresentationFormat>Custom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Nesa Rajan</dc:creator>
  <cp:lastModifiedBy>Nesa Rajan</cp:lastModifiedBy>
  <cp:revision>4</cp:revision>
  <dcterms:created xsi:type="dcterms:W3CDTF">2026-07-10T14:59:21Z</dcterms:created>
  <dcterms:modified xsi:type="dcterms:W3CDTF">2026-07-16T06:24:18Z</dcterms:modified>
</cp:coreProperties>
</file>